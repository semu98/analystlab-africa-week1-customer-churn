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6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72341"/>
    <a:srgbClr val="0F172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62" d="100"/>
          <a:sy n="62" d="100"/>
        </p:scale>
        <p:origin x="82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6AC16D-2F39-1626-3D71-78D4A84DCB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BA6C9A-3207-F702-E163-6B013ED195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C0C6AD-1A3D-E460-AEBC-9F8830BA9F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E8313F-D663-454B-A2A6-8E89778212EC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08372D-EDF1-9238-D894-1A4775B8FA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E33513-B7F9-3E07-CABA-8EDA5BC38C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F2FDA7-357D-4AC9-903D-AAF4AAE0C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71345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8939D2-436D-C0E7-B9DD-03F9DF52E6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16BFCD-DD0C-C066-E179-E66567066D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EB9D13-CE24-A204-C7AF-D5D20BEB39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E8313F-D663-454B-A2A6-8E89778212EC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D9E7B7-195C-D871-B741-B3F5A5433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70FF3C-F3EB-A6E5-B04D-1C12CDA121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F2FDA7-357D-4AC9-903D-AAF4AAE0C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71545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E09F2F-DDA7-472A-947D-95E11ABA46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B75F0C-4EBA-941A-A2A0-6761FAD2A9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F8961E-3A58-97A8-C6CF-9341E8A7D8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E8313F-D663-454B-A2A6-8E89778212EC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91D89D-0A5F-149D-0F87-82D3EE35A5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953C39-515B-296B-1D42-49CD48F52F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F2FDA7-357D-4AC9-903D-AAF4AAE0C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10961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6F3E4E-DBD2-D2C0-4FAF-0BEDD17CFD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5D7A41-46D9-9518-4DAB-7B315F258D5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12446E-A7F3-04D4-6FB7-E608985174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987A28-E431-72C1-5500-ADE48FD2DD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E8313F-D663-454B-A2A6-8E89778212EC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884C08-1D51-54E3-C1C6-010D2AD53B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431CDE-FD27-152C-A178-A419252D9A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F2FDA7-357D-4AC9-903D-AAF4AAE0C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91101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A58BA1-55FB-3102-850E-8FD212FDBC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83CF9E-9346-AE6E-7611-F217CF2716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BC01C3-BF50-46BC-B615-21A6D3728D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1591D7B-C395-5FB8-E571-46F27A7D78E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B4F4E5F-9FE0-B0F7-5FB0-291AE160512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C38E1D1-2341-066B-633E-63F8D3FDC3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E8313F-D663-454B-A2A6-8E89778212EC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F49999B-09F6-BB0D-F4CC-0D223C245F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4A7FB57-DDD8-215F-430B-415AABA900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F2FDA7-357D-4AC9-903D-AAF4AAE0C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41961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496D92-F962-779E-D624-8359938DA6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F61382D-2BF4-90D1-1979-A98E6D4DDE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E8313F-D663-454B-A2A6-8E89778212EC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35EFD7F-34BF-70FD-93E2-7ADC9C1EF9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D393F2-CA04-575C-9290-8F491D72E2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F2FDA7-357D-4AC9-903D-AAF4AAE0C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96378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31F1FFE-1615-D7FE-1497-FF86B9857E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E8313F-D663-454B-A2A6-8E89778212EC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2C00E09-C585-5EB2-36B5-6A07812F5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E2C1C0-B660-03EC-43B5-5A69B6B300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F2FDA7-357D-4AC9-903D-AAF4AAE0C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46574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50634C-2987-3038-D76C-50D87C632B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7465F5-EEDF-60C9-9801-346167165D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36BF7A-EF88-4298-048D-0561250613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5E7C07-8314-AA71-8607-8506D972B7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E8313F-D663-454B-A2A6-8E89778212EC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DDC84C-A662-1349-7E5F-BA9C620215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211090-429D-94C3-B495-A22F0516CF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F2FDA7-357D-4AC9-903D-AAF4AAE0C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80518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FAA878-42F6-9BFB-242D-834574AA08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4663014-5D1F-8071-D7F2-AAB30C84FD1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8B67F2-D1B9-14DA-3461-752AC8B5AA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0105DD-41DF-C2C9-5EBB-B250CDF8FD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E8313F-D663-454B-A2A6-8E89778212EC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A6069B-CC20-2896-D528-8AD5EB39E3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F0DB47-EB28-4C0C-489C-317D4013E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F2FDA7-357D-4AC9-903D-AAF4AAE0C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89475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2270E3-E1AA-3DA8-D7E9-86174E423B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95ACE1-80F2-6A6C-6BA7-2F8D543746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A13441-C67C-9A2B-EC8E-926BB036A1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E8313F-D663-454B-A2A6-8E89778212EC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79BB9D-B496-F96E-4E37-1FC77897E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0AF760-4BBE-6353-8CA8-E92B9F6CD1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F2FDA7-357D-4AC9-903D-AAF4AAE0C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90858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1D8B16A-07D5-569C-BC1B-492687A6F9B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E352DD8-28C0-0B36-E73C-A868C79C7C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198EB2-0BD8-6D23-7E0F-82440995DA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E8313F-D663-454B-A2A6-8E89778212EC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916EA4-1A72-F50D-2395-865C0AF20B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83D6FD-7CCE-C5AC-61ED-4F5CB2A819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F2FDA7-357D-4AC9-903D-AAF4AAE0C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28394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D5E382B-41C1-4C83-8736-4C53419846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69D371-1196-383E-2B83-EAE1E975C8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601738-4675-7BB6-7E21-2A4B5562B2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E8313F-D663-454B-A2A6-8E89778212EC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3642B4-E737-0ED2-66D3-6227EE210F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3572DC-79A9-7A1C-9AA9-DBB553F765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F2FDA7-357D-4AC9-903D-AAF4AAE0C7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88947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0DB1D0-E1D5-B395-9521-01FE2CEC09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3164" y="1222624"/>
            <a:ext cx="10733070" cy="1465406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Arial Black" panose="020B0A04020102020204" pitchFamily="34" charset="0"/>
              </a:rPr>
              <a:t>CUSTOMER BEHAVIOUR AND CHURN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9F266E-FBB9-3A2D-0F25-0E2D270A94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43164" y="5194872"/>
            <a:ext cx="3798014" cy="881008"/>
          </a:xfrm>
        </p:spPr>
        <p:txBody>
          <a:bodyPr/>
          <a:lstStyle/>
          <a:p>
            <a:pPr algn="l"/>
            <a:r>
              <a:rPr lang="en-US" dirty="0">
                <a:latin typeface="Arial Black" panose="020B0A04020102020204" pitchFamily="34" charset="0"/>
              </a:rPr>
              <a:t>Semu Msongole</a:t>
            </a:r>
          </a:p>
          <a:p>
            <a:pPr algn="l"/>
            <a:r>
              <a:rPr lang="en-US" dirty="0">
                <a:latin typeface="Arial Black" panose="020B0A04020102020204" pitchFamily="34" charset="0"/>
              </a:rPr>
              <a:t>Data Analyst Intern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802E8E-AF81-9AE5-B012-6526DD19B18E}"/>
              </a:ext>
            </a:extLst>
          </p:cNvPr>
          <p:cNvSpPr txBox="1">
            <a:spLocks/>
          </p:cNvSpPr>
          <p:nvPr/>
        </p:nvSpPr>
        <p:spPr>
          <a:xfrm>
            <a:off x="1524000" y="3349375"/>
            <a:ext cx="9144000" cy="47528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b="1" dirty="0">
                <a:latin typeface="Arial Black" panose="020B0A04020102020204" pitchFamily="34" charset="0"/>
              </a:rPr>
              <a:t>Data Analysis Internship – Week Assignment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E8F1FCD-275B-7603-736D-BE70D19D848B}"/>
              </a:ext>
            </a:extLst>
          </p:cNvPr>
          <p:cNvSpPr/>
          <p:nvPr/>
        </p:nvSpPr>
        <p:spPr>
          <a:xfrm>
            <a:off x="0" y="6287784"/>
            <a:ext cx="12192000" cy="570216"/>
          </a:xfrm>
          <a:prstGeom prst="rect">
            <a:avLst/>
          </a:prstGeom>
          <a:solidFill>
            <a:srgbClr val="172341"/>
          </a:solidFill>
          <a:ln>
            <a:solidFill>
              <a:srgbClr val="0F172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57941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4AE325-B8DE-BA4A-44F2-A1D45542D8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8822" y="406222"/>
            <a:ext cx="8274978" cy="1325563"/>
          </a:xfrm>
        </p:spPr>
        <p:txBody>
          <a:bodyPr/>
          <a:lstStyle/>
          <a:p>
            <a:r>
              <a:rPr lang="en-US" dirty="0">
                <a:latin typeface="Arial Black" panose="020B0A04020102020204" pitchFamily="34" charset="0"/>
              </a:rPr>
              <a:t>Objectives of the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5CE198-6E43-2A0E-3945-0FFF9C0F73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78822" y="1825625"/>
            <a:ext cx="8274978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>
                <a:latin typeface="Arial Black" panose="020B0A04020102020204" pitchFamily="34" charset="0"/>
                <a:cs typeface="Arial" panose="020B0604020202020204" pitchFamily="34" charset="0"/>
              </a:rPr>
              <a:t>Objectives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Understand the composition of the customer base 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Identify customer segments with high churn 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Assess the relationship between contract type and retention 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Examine the relationship between tenure and loyalty 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Analyze service and payment-method patterns 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Provide actionable recommendations to management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1C879C1-0FC1-9C36-DB1C-7FD03BEBE688}"/>
              </a:ext>
            </a:extLst>
          </p:cNvPr>
          <p:cNvSpPr/>
          <p:nvPr/>
        </p:nvSpPr>
        <p:spPr>
          <a:xfrm>
            <a:off x="0" y="0"/>
            <a:ext cx="2404153" cy="6858000"/>
          </a:xfrm>
          <a:prstGeom prst="rect">
            <a:avLst/>
          </a:prstGeom>
          <a:solidFill>
            <a:srgbClr val="17234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rgbClr val="172341"/>
                </a:solidFill>
              </a:ln>
              <a:solidFill>
                <a:srgbClr val="17234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334216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F025F4-3309-2BBC-4A91-44E3C8C11B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96075D-8F33-C3C7-5681-3E1F0AA5BE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8822" y="406222"/>
            <a:ext cx="8274978" cy="1325563"/>
          </a:xfrm>
        </p:spPr>
        <p:txBody>
          <a:bodyPr/>
          <a:lstStyle/>
          <a:p>
            <a:r>
              <a:rPr lang="en-US" dirty="0">
                <a:latin typeface="Arial Black" panose="020B0A04020102020204" pitchFamily="34" charset="0"/>
              </a:rPr>
              <a:t>Dataset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E73875-0150-BF31-5B18-4DC267EB17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78822" y="1825625"/>
            <a:ext cx="8274978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Dataset: Telco Customer Churn Dataset</a:t>
            </a:r>
          </a:p>
          <a:p>
            <a:pPr marL="0" indent="0"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Unit of Analysis: One row represents one customer</a:t>
            </a:r>
          </a:p>
          <a:p>
            <a:pPr marL="0" indent="0">
              <a:buNone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Key Analytical Fields;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Customer Demographics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Tenure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Contract Type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Churn Status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Internet Service</a:t>
            </a:r>
          </a:p>
          <a:p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To name a few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83C7129-8A93-433F-5D1E-686FC323AB63}"/>
              </a:ext>
            </a:extLst>
          </p:cNvPr>
          <p:cNvSpPr/>
          <p:nvPr/>
        </p:nvSpPr>
        <p:spPr>
          <a:xfrm>
            <a:off x="0" y="0"/>
            <a:ext cx="2404153" cy="6858000"/>
          </a:xfrm>
          <a:prstGeom prst="rect">
            <a:avLst/>
          </a:prstGeom>
          <a:solidFill>
            <a:srgbClr val="17234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rgbClr val="172341"/>
                </a:solidFill>
              </a:ln>
              <a:solidFill>
                <a:srgbClr val="17234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22131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AD7A38-DFA4-7733-CCFF-5F932F1C14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6D91B3-1795-3CE8-8640-D32FB464F1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8822" y="406222"/>
            <a:ext cx="8274978" cy="1325563"/>
          </a:xfrm>
        </p:spPr>
        <p:txBody>
          <a:bodyPr/>
          <a:lstStyle/>
          <a:p>
            <a:r>
              <a:rPr lang="en-US" dirty="0">
                <a:latin typeface="Arial Black" panose="020B0A04020102020204" pitchFamily="34" charset="0"/>
              </a:rPr>
              <a:t>Executive Summary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3794ADD5-CB12-9B90-34F1-1AA3FCAFD29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34020721"/>
              </p:ext>
            </p:extLst>
          </p:nvPr>
        </p:nvGraphicFramePr>
        <p:xfrm>
          <a:off x="3078163" y="1859621"/>
          <a:ext cx="8275636" cy="3832264"/>
        </p:xfrm>
        <a:graphic>
          <a:graphicData uri="http://schemas.openxmlformats.org/drawingml/2006/table">
            <a:tbl>
              <a:tblPr/>
              <a:tblGrid>
                <a:gridCol w="4137818">
                  <a:extLst>
                    <a:ext uri="{9D8B030D-6E8A-4147-A177-3AD203B41FA5}">
                      <a16:colId xmlns:a16="http://schemas.microsoft.com/office/drawing/2014/main" val="1735231707"/>
                    </a:ext>
                  </a:extLst>
                </a:gridCol>
                <a:gridCol w="4137818">
                  <a:extLst>
                    <a:ext uri="{9D8B030D-6E8A-4147-A177-3AD203B41FA5}">
                      <a16:colId xmlns:a16="http://schemas.microsoft.com/office/drawing/2014/main" val="3120887061"/>
                    </a:ext>
                  </a:extLst>
                </a:gridCol>
              </a:tblGrid>
              <a:tr h="4790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KPI</a:t>
                      </a:r>
                    </a:p>
                  </a:txBody>
                  <a:tcPr marL="71962" marR="71962" marT="35981" marB="35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2000" dirty="0"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Result</a:t>
                      </a:r>
                    </a:p>
                  </a:txBody>
                  <a:tcPr marL="71962" marR="71962" marT="35981" marB="35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3627852"/>
                  </a:ext>
                </a:extLst>
              </a:tr>
              <a:tr h="4790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Total Customers</a:t>
                      </a:r>
                    </a:p>
                  </a:txBody>
                  <a:tcPr marL="71962" marR="71962" marT="35981" marB="35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20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7,043</a:t>
                      </a:r>
                      <a:endParaRPr lang="en-US" sz="20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1962" marR="71962" marT="35981" marB="35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3167181"/>
                  </a:ext>
                </a:extLst>
              </a:tr>
              <a:tr h="4790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Churned Customers</a:t>
                      </a:r>
                    </a:p>
                  </a:txBody>
                  <a:tcPr marL="71962" marR="71962" marT="35981" marB="35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20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1,869</a:t>
                      </a:r>
                      <a:endParaRPr lang="en-US" sz="20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1962" marR="71962" marT="35981" marB="35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0544851"/>
                  </a:ext>
                </a:extLst>
              </a:tr>
              <a:tr h="4790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Overall Churn Rate</a:t>
                      </a:r>
                    </a:p>
                  </a:txBody>
                  <a:tcPr marL="71962" marR="71962" marT="35981" marB="35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20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26.54%</a:t>
                      </a:r>
                      <a:endParaRPr lang="en-US" sz="20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1962" marR="71962" marT="35981" marB="35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5510763"/>
                  </a:ext>
                </a:extLst>
              </a:tr>
              <a:tr h="4790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Retained Customers</a:t>
                      </a:r>
                    </a:p>
                  </a:txBody>
                  <a:tcPr marL="71962" marR="71962" marT="35981" marB="35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20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5,174</a:t>
                      </a:r>
                      <a:endParaRPr lang="en-US" sz="20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1962" marR="71962" marT="35981" marB="35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873796"/>
                  </a:ext>
                </a:extLst>
              </a:tr>
              <a:tr h="4790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Retention Rate</a:t>
                      </a:r>
                    </a:p>
                  </a:txBody>
                  <a:tcPr marL="71962" marR="71962" marT="35981" marB="35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20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73.46%</a:t>
                      </a:r>
                      <a:endParaRPr lang="en-US" sz="20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1962" marR="71962" marT="35981" marB="35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9150990"/>
                  </a:ext>
                </a:extLst>
              </a:tr>
              <a:tr h="4790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Average Tenure</a:t>
                      </a:r>
                    </a:p>
                  </a:txBody>
                  <a:tcPr marL="71962" marR="71962" marT="35981" marB="35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20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32.37 months</a:t>
                      </a:r>
                      <a:endParaRPr lang="en-US" sz="20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1962" marR="71962" marT="35981" marB="35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1113699"/>
                  </a:ext>
                </a:extLst>
              </a:tr>
              <a:tr h="4790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Average Monthly Charge</a:t>
                      </a:r>
                    </a:p>
                  </a:txBody>
                  <a:tcPr marL="71962" marR="71962" marT="35981" marB="35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64.76</a:t>
                      </a:r>
                      <a:endParaRPr lang="en-US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1962" marR="71962" marT="35981" marB="359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7670189"/>
                  </a:ext>
                </a:extLst>
              </a:tr>
            </a:tbl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DB48300A-B3EE-71A9-4A1A-DB9E13931224}"/>
              </a:ext>
            </a:extLst>
          </p:cNvPr>
          <p:cNvSpPr/>
          <p:nvPr/>
        </p:nvSpPr>
        <p:spPr>
          <a:xfrm>
            <a:off x="0" y="0"/>
            <a:ext cx="2404153" cy="6858000"/>
          </a:xfrm>
          <a:prstGeom prst="rect">
            <a:avLst/>
          </a:prstGeom>
          <a:solidFill>
            <a:srgbClr val="17234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rgbClr val="172341"/>
                </a:solidFill>
              </a:ln>
              <a:solidFill>
                <a:srgbClr val="17234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787554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16AEC4-5004-CB11-292C-B20305DC1E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BB27D3-BD80-C618-C17A-2459A1248B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8822" y="406222"/>
            <a:ext cx="8274978" cy="1325563"/>
          </a:xfrm>
        </p:spPr>
        <p:txBody>
          <a:bodyPr/>
          <a:lstStyle/>
          <a:p>
            <a:r>
              <a:rPr lang="en-US" dirty="0">
                <a:latin typeface="Arial Black" panose="020B0A04020102020204" pitchFamily="34" charset="0"/>
              </a:rPr>
              <a:t>Customer Base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15E3DDE-97F6-FFAA-7E24-4B00B26C819B}"/>
              </a:ext>
            </a:extLst>
          </p:cNvPr>
          <p:cNvSpPr/>
          <p:nvPr/>
        </p:nvSpPr>
        <p:spPr>
          <a:xfrm>
            <a:off x="0" y="0"/>
            <a:ext cx="2404153" cy="6858000"/>
          </a:xfrm>
          <a:prstGeom prst="rect">
            <a:avLst/>
          </a:prstGeom>
          <a:solidFill>
            <a:srgbClr val="17234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rgbClr val="172341"/>
                </a:solidFill>
              </a:ln>
              <a:solidFill>
                <a:srgbClr val="172341"/>
              </a:solidFill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25747E1-7275-EDEF-0EAE-78C33C890A2A}"/>
              </a:ext>
            </a:extLst>
          </p:cNvPr>
          <p:cNvSpPr/>
          <p:nvPr/>
        </p:nvSpPr>
        <p:spPr>
          <a:xfrm>
            <a:off x="3078822" y="1911288"/>
            <a:ext cx="3445268" cy="3035424"/>
          </a:xfrm>
          <a:prstGeom prst="roundRect">
            <a:avLst/>
          </a:prstGeom>
          <a:solidFill>
            <a:srgbClr val="17234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bg1"/>
                </a:solidFill>
                <a:latin typeface="Arial Black" panose="020B0A04020102020204" pitchFamily="34" charset="0"/>
              </a:rPr>
              <a:t>73.46%</a:t>
            </a:r>
          </a:p>
          <a:p>
            <a:pPr algn="ctr"/>
            <a:r>
              <a:rPr lang="en-US" sz="4000" dirty="0">
                <a:solidFill>
                  <a:schemeClr val="bg1"/>
                </a:solidFill>
                <a:latin typeface="Arial Black" panose="020B0A04020102020204" pitchFamily="34" charset="0"/>
              </a:rPr>
              <a:t>Retained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5D44C424-91BD-9D70-6459-D276CF6B64B3}"/>
              </a:ext>
            </a:extLst>
          </p:cNvPr>
          <p:cNvSpPr/>
          <p:nvPr/>
        </p:nvSpPr>
        <p:spPr>
          <a:xfrm>
            <a:off x="7908532" y="1911288"/>
            <a:ext cx="3445268" cy="3035424"/>
          </a:xfrm>
          <a:prstGeom prst="roundRect">
            <a:avLst/>
          </a:prstGeom>
          <a:solidFill>
            <a:srgbClr val="17234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bg1"/>
                </a:solidFill>
                <a:latin typeface="Arial Black" panose="020B0A04020102020204" pitchFamily="34" charset="0"/>
              </a:rPr>
              <a:t>26.56%</a:t>
            </a:r>
          </a:p>
          <a:p>
            <a:pPr algn="ctr"/>
            <a:r>
              <a:rPr lang="en-US" sz="4000" dirty="0">
                <a:solidFill>
                  <a:schemeClr val="bg1"/>
                </a:solidFill>
                <a:latin typeface="Arial Black" panose="020B0A04020102020204" pitchFamily="34" charset="0"/>
              </a:rPr>
              <a:t>Churn</a:t>
            </a:r>
          </a:p>
        </p:txBody>
      </p:sp>
    </p:spTree>
    <p:extLst>
      <p:ext uri="{BB962C8B-B14F-4D97-AF65-F5344CB8AC3E}">
        <p14:creationId xmlns:p14="http://schemas.microsoft.com/office/powerpoint/2010/main" val="15734872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3FEEEC-BCC0-6A5C-E1AD-E88951A9E9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10C986-C6AE-9B03-CA37-C3719B038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8822" y="406222"/>
            <a:ext cx="8274978" cy="1325563"/>
          </a:xfrm>
        </p:spPr>
        <p:txBody>
          <a:bodyPr/>
          <a:lstStyle/>
          <a:p>
            <a:r>
              <a:rPr lang="en-US" dirty="0">
                <a:latin typeface="Arial Black" panose="020B0A04020102020204" pitchFamily="34" charset="0"/>
              </a:rPr>
              <a:t>Customer Distribution By Contract Type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0003008-8B7E-410A-0A6F-4C50B84B2890}"/>
              </a:ext>
            </a:extLst>
          </p:cNvPr>
          <p:cNvSpPr/>
          <p:nvPr/>
        </p:nvSpPr>
        <p:spPr>
          <a:xfrm>
            <a:off x="0" y="0"/>
            <a:ext cx="2404153" cy="6858000"/>
          </a:xfrm>
          <a:prstGeom prst="rect">
            <a:avLst/>
          </a:prstGeom>
          <a:solidFill>
            <a:srgbClr val="17234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rgbClr val="172341"/>
                </a:solidFill>
              </a:ln>
              <a:solidFill>
                <a:srgbClr val="17234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63BE847-A9B6-C873-AC61-EB4F089D33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09135" y="1922719"/>
            <a:ext cx="5014352" cy="400183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361200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091405-C244-441C-0689-37904AA321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1EAE45-516F-4F8E-49F8-C3DDC6C7D2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8822" y="406222"/>
            <a:ext cx="8274978" cy="1325563"/>
          </a:xfrm>
        </p:spPr>
        <p:txBody>
          <a:bodyPr/>
          <a:lstStyle/>
          <a:p>
            <a:r>
              <a:rPr lang="en-US" dirty="0">
                <a:latin typeface="Arial Black" panose="020B0A04020102020204" pitchFamily="34" charset="0"/>
              </a:rPr>
              <a:t>Where is Churn Highest?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6BB8D4A-6F5D-DB54-24A4-C36F8B11B15A}"/>
              </a:ext>
            </a:extLst>
          </p:cNvPr>
          <p:cNvSpPr/>
          <p:nvPr/>
        </p:nvSpPr>
        <p:spPr>
          <a:xfrm>
            <a:off x="0" y="0"/>
            <a:ext cx="2404153" cy="6858000"/>
          </a:xfrm>
          <a:prstGeom prst="rect">
            <a:avLst/>
          </a:prstGeom>
          <a:solidFill>
            <a:srgbClr val="17234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rgbClr val="172341"/>
                </a:solidFill>
              </a:ln>
              <a:solidFill>
                <a:srgbClr val="17234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A228327-40F5-BE85-23A9-73A1E89774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2003" y="2414427"/>
            <a:ext cx="4428402" cy="282025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AD3DEAE-B86A-C080-9B34-B259601860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25797" y="2414427"/>
            <a:ext cx="4428402" cy="282025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8925357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A91F05-825D-75FF-1517-0563432882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94558F-7F18-3F4A-EABF-718D30F619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8822" y="406222"/>
            <a:ext cx="8274978" cy="1325563"/>
          </a:xfrm>
        </p:spPr>
        <p:txBody>
          <a:bodyPr/>
          <a:lstStyle/>
          <a:p>
            <a:r>
              <a:rPr lang="en-US" dirty="0">
                <a:latin typeface="Arial Black" panose="020B0A04020102020204" pitchFamily="34" charset="0"/>
              </a:rPr>
              <a:t>Payment and Service Patterns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3079780-369B-E9B4-2D12-E4C789083EF8}"/>
              </a:ext>
            </a:extLst>
          </p:cNvPr>
          <p:cNvSpPr/>
          <p:nvPr/>
        </p:nvSpPr>
        <p:spPr>
          <a:xfrm>
            <a:off x="0" y="0"/>
            <a:ext cx="2404153" cy="6858000"/>
          </a:xfrm>
          <a:prstGeom prst="rect">
            <a:avLst/>
          </a:prstGeom>
          <a:solidFill>
            <a:srgbClr val="17234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rgbClr val="172341"/>
                </a:solidFill>
              </a:ln>
              <a:solidFill>
                <a:srgbClr val="17234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9DC6AFE-0737-E72F-C88E-2484742265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767174" y="2414427"/>
            <a:ext cx="4398060" cy="282025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3FCE8D1-738D-1EBC-7B09-0B2E2A36886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225797" y="2439577"/>
            <a:ext cx="4428402" cy="276995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2591296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F640AA-A961-81C2-A853-205929801B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C1A71B-05AB-D6DF-3534-C5A22CAF76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8822" y="406222"/>
            <a:ext cx="8274978" cy="1325563"/>
          </a:xfrm>
        </p:spPr>
        <p:txBody>
          <a:bodyPr/>
          <a:lstStyle/>
          <a:p>
            <a:r>
              <a:rPr lang="en-US" dirty="0">
                <a:latin typeface="Arial Black" panose="020B0A04020102020204" pitchFamily="34" charset="0"/>
              </a:rPr>
              <a:t>Key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E54346-C826-10CB-0636-EC4BD502DD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78822" y="1825625"/>
            <a:ext cx="8274978" cy="4351338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Month-to-month customers have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42.71% churn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, compared with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2.83%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among two-year customers.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Customers with 0-12 months tenure have the highest churn at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47.44%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Electronic-check customers have the highest payment-method churn at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45.29%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Fiber-optic customers have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41.89% churn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, considerably above DSL.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9189B75-7631-B6C6-6955-87E850C02EB9}"/>
              </a:ext>
            </a:extLst>
          </p:cNvPr>
          <p:cNvSpPr/>
          <p:nvPr/>
        </p:nvSpPr>
        <p:spPr>
          <a:xfrm>
            <a:off x="0" y="0"/>
            <a:ext cx="2404153" cy="6858000"/>
          </a:xfrm>
          <a:prstGeom prst="rect">
            <a:avLst/>
          </a:prstGeom>
          <a:solidFill>
            <a:srgbClr val="17234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rgbClr val="172341"/>
                </a:solidFill>
              </a:ln>
              <a:solidFill>
                <a:srgbClr val="17234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59446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F8FC0C-0081-072D-0950-A935C41E8E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D4D38-DF05-4A64-F55F-E73B873F14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8822" y="406223"/>
            <a:ext cx="8274978" cy="1227368"/>
          </a:xfrm>
        </p:spPr>
        <p:txBody>
          <a:bodyPr/>
          <a:lstStyle/>
          <a:p>
            <a:r>
              <a:rPr lang="en-US" dirty="0">
                <a:latin typeface="Arial Black" panose="020B0A04020102020204" pitchFamily="34" charset="0"/>
              </a:rPr>
              <a:t>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7D92DD-830A-CA11-BB6D-F5DA4F59C5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78822" y="1774254"/>
            <a:ext cx="8643991" cy="4287499"/>
          </a:xfrm>
        </p:spPr>
        <p:txBody>
          <a:bodyPr>
            <a:no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Target customers in their first 12 months.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Focus on suitable high-risk month-to-month customers.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Review payment experience, billing issues and customer journey.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Investigate pricing, reliability, installation and support.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Create a framework for identifying high-risk customers and monitoring retention interventions.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E21FFB6-013B-F588-5491-ED26A349B30D}"/>
              </a:ext>
            </a:extLst>
          </p:cNvPr>
          <p:cNvSpPr/>
          <p:nvPr/>
        </p:nvSpPr>
        <p:spPr>
          <a:xfrm>
            <a:off x="0" y="0"/>
            <a:ext cx="2404153" cy="6858000"/>
          </a:xfrm>
          <a:prstGeom prst="rect">
            <a:avLst/>
          </a:prstGeom>
          <a:solidFill>
            <a:srgbClr val="17234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rgbClr val="172341"/>
                </a:solidFill>
              </a:ln>
              <a:solidFill>
                <a:srgbClr val="17234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734363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76135C-F9C1-C366-8B7C-343DA89936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D32AD1-9E29-6E47-43A6-52DDA549F5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8822" y="406223"/>
            <a:ext cx="8274978" cy="1227368"/>
          </a:xfrm>
        </p:spPr>
        <p:txBody>
          <a:bodyPr/>
          <a:lstStyle/>
          <a:p>
            <a:r>
              <a:rPr lang="en-US" dirty="0">
                <a:latin typeface="Arial Black" panose="020B0A04020102020204" pitchFamily="34" charset="0"/>
              </a:rPr>
              <a:t>KPIs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C36D5D33-7DA5-8151-8355-0E7E352110A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93644140"/>
              </p:ext>
            </p:extLst>
          </p:nvPr>
        </p:nvGraphicFramePr>
        <p:xfrm>
          <a:off x="3078822" y="1909144"/>
          <a:ext cx="8643936" cy="2659748"/>
        </p:xfrm>
        <a:graphic>
          <a:graphicData uri="http://schemas.openxmlformats.org/drawingml/2006/table">
            <a:tbl>
              <a:tblPr/>
              <a:tblGrid>
                <a:gridCol w="4321968">
                  <a:extLst>
                    <a:ext uri="{9D8B030D-6E8A-4147-A177-3AD203B41FA5}">
                      <a16:colId xmlns:a16="http://schemas.microsoft.com/office/drawing/2014/main" val="4181910288"/>
                    </a:ext>
                  </a:extLst>
                </a:gridCol>
                <a:gridCol w="4321968">
                  <a:extLst>
                    <a:ext uri="{9D8B030D-6E8A-4147-A177-3AD203B41FA5}">
                      <a16:colId xmlns:a16="http://schemas.microsoft.com/office/drawing/2014/main" val="2217998880"/>
                    </a:ext>
                  </a:extLst>
                </a:gridCol>
              </a:tblGrid>
              <a:tr h="3006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Initiative</a:t>
                      </a:r>
                    </a:p>
                  </a:txBody>
                  <a:tcPr marL="75165" marR="75165" marT="37582" marB="3758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latin typeface="Arial Black" panose="020B0A04020102020204" pitchFamily="34" charset="0"/>
                          <a:cs typeface="Arial" panose="020B0604020202020204" pitchFamily="34" charset="0"/>
                        </a:rPr>
                        <a:t>KPI</a:t>
                      </a:r>
                    </a:p>
                  </a:txBody>
                  <a:tcPr marL="75165" marR="75165" marT="37582" marB="3758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6146792"/>
                  </a:ext>
                </a:extLst>
              </a:tr>
              <a:tr h="3006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Early retention</a:t>
                      </a:r>
                    </a:p>
                  </a:txBody>
                  <a:tcPr marL="75165" marR="75165" marT="37582" marB="3758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0-12 month churn rate</a:t>
                      </a:r>
                    </a:p>
                  </a:txBody>
                  <a:tcPr marL="75165" marR="75165" marT="37582" marB="3758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9354157"/>
                  </a:ext>
                </a:extLst>
              </a:tr>
              <a:tr h="1771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Contract conversion</a:t>
                      </a:r>
                    </a:p>
                  </a:txBody>
                  <a:tcPr marL="75165" marR="75165" marT="37582" marB="3758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Month-to-month conversion rate</a:t>
                      </a:r>
                    </a:p>
                  </a:txBody>
                  <a:tcPr marL="75165" marR="75165" marT="37582" marB="3758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0990669"/>
                  </a:ext>
                </a:extLst>
              </a:tr>
              <a:tr h="3006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Payment intervention</a:t>
                      </a:r>
                    </a:p>
                  </a:txBody>
                  <a:tcPr marL="75165" marR="75165" marT="37582" marB="3758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Electronic-check churn</a:t>
                      </a:r>
                    </a:p>
                  </a:txBody>
                  <a:tcPr marL="75165" marR="75165" marT="37582" marB="3758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8648122"/>
                  </a:ext>
                </a:extLst>
              </a:tr>
              <a:tr h="3006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Fiber review</a:t>
                      </a:r>
                    </a:p>
                  </a:txBody>
                  <a:tcPr marL="75165" marR="75165" marT="37582" marB="3758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Fiber-optic churn</a:t>
                      </a:r>
                    </a:p>
                  </a:txBody>
                  <a:tcPr marL="75165" marR="75165" marT="37582" marB="3758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01889327"/>
                  </a:ext>
                </a:extLst>
              </a:tr>
              <a:tr h="3006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Risk segmentation</a:t>
                      </a:r>
                    </a:p>
                  </a:txBody>
                  <a:tcPr marL="75165" marR="75165" marT="37582" marB="3758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Churn by risk segment</a:t>
                      </a:r>
                    </a:p>
                  </a:txBody>
                  <a:tcPr marL="75165" marR="75165" marT="37582" marB="3758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5509466"/>
                  </a:ext>
                </a:extLst>
              </a:tr>
              <a:tr h="3006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Overall performance</a:t>
                      </a:r>
                    </a:p>
                  </a:txBody>
                  <a:tcPr marL="75165" marR="75165" marT="37582" marB="3758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Overall churn rate</a:t>
                      </a:r>
                    </a:p>
                  </a:txBody>
                  <a:tcPr marL="75165" marR="75165" marT="37582" marB="3758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1660129"/>
                  </a:ext>
                </a:extLst>
              </a:tr>
            </a:tbl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546D40D7-06BA-AE51-ED75-D610CB9FF17F}"/>
              </a:ext>
            </a:extLst>
          </p:cNvPr>
          <p:cNvSpPr/>
          <p:nvPr/>
        </p:nvSpPr>
        <p:spPr>
          <a:xfrm>
            <a:off x="0" y="0"/>
            <a:ext cx="2404153" cy="6858000"/>
          </a:xfrm>
          <a:prstGeom prst="rect">
            <a:avLst/>
          </a:prstGeom>
          <a:solidFill>
            <a:srgbClr val="17234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rgbClr val="172341"/>
                </a:solidFill>
              </a:ln>
              <a:solidFill>
                <a:srgbClr val="17234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10664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A4FB48-5C8F-979B-2249-97A912B540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12D3DA-DEC4-E1E7-FD03-C4A30DD710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8822" y="406223"/>
            <a:ext cx="8274978" cy="1227368"/>
          </a:xfrm>
        </p:spPr>
        <p:txBody>
          <a:bodyPr/>
          <a:lstStyle/>
          <a:p>
            <a:r>
              <a:rPr lang="en-US" dirty="0">
                <a:latin typeface="Arial Black" panose="020B0A04020102020204" pitchFamily="34" charset="0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A4C4E1-4DC3-FBEE-807B-4EEE67E461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78822" y="1774254"/>
            <a:ext cx="8643991" cy="4287499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From the provided analysis ABC Communications can use targeted retention strategies, supported by measurable KPIs, to identify and address high-risk customer segments.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FBD6165-0CDF-E521-67DC-BD62CA45B9BC}"/>
              </a:ext>
            </a:extLst>
          </p:cNvPr>
          <p:cNvSpPr/>
          <p:nvPr/>
        </p:nvSpPr>
        <p:spPr>
          <a:xfrm>
            <a:off x="0" y="0"/>
            <a:ext cx="2404153" cy="6858000"/>
          </a:xfrm>
          <a:prstGeom prst="rect">
            <a:avLst/>
          </a:prstGeom>
          <a:solidFill>
            <a:srgbClr val="17234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rgbClr val="172341"/>
                </a:solidFill>
              </a:ln>
              <a:solidFill>
                <a:srgbClr val="17234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973706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301</Words>
  <Application>Microsoft Office PowerPoint</Application>
  <PresentationFormat>Widescreen</PresentationFormat>
  <Paragraphs>77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Arial Black</vt:lpstr>
      <vt:lpstr>Calibri</vt:lpstr>
      <vt:lpstr>Calibri Light</vt:lpstr>
      <vt:lpstr>Office Theme</vt:lpstr>
      <vt:lpstr>CUSTOMER BEHAVIOUR AND CHURN ANALYSIS</vt:lpstr>
      <vt:lpstr>Objectives of the Analysis</vt:lpstr>
      <vt:lpstr>Dataset Overview</vt:lpstr>
      <vt:lpstr>Executive Summary</vt:lpstr>
      <vt:lpstr>Customer Base</vt:lpstr>
      <vt:lpstr>Customer Distribution By Contract Type</vt:lpstr>
      <vt:lpstr>Where is Churn Highest?</vt:lpstr>
      <vt:lpstr>Payment and Service Patterns</vt:lpstr>
      <vt:lpstr>Key Insights</vt:lpstr>
      <vt:lpstr>Recommendations</vt:lpstr>
      <vt:lpstr>KPIs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DELL</dc:creator>
  <cp:lastModifiedBy>DELL</cp:lastModifiedBy>
  <cp:revision>1</cp:revision>
  <dcterms:created xsi:type="dcterms:W3CDTF">2026-08-09T00:13:15Z</dcterms:created>
  <dcterms:modified xsi:type="dcterms:W3CDTF">2026-08-09T00:51:39Z</dcterms:modified>
</cp:coreProperties>
</file>